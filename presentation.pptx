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f1a0b1447a420c" /><Relationship Type="http://schemas.openxmlformats.org/officeDocument/2006/relationships/extended-properties" Target="/docProps/app.xml" Id="R1527f8b8a1344ae0" /><Relationship Type="http://schemas.openxmlformats.org/officeDocument/2006/relationships/officeDocument" Target="/ppt/presentation.xml" Id="R082979f66f004c8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3d307ec3d454c54"/>
  </p:sldMasterIdLst>
  <p:notesMasterIdLst>
    <p:notesMasterId xmlns:r="http://schemas.openxmlformats.org/officeDocument/2006/relationships" r:id="R6a2449fac4de44a2"/>
  </p:notesMasterIdLst>
  <p:sldIdLst>
    <p:sldId xmlns:r="http://schemas.openxmlformats.org/officeDocument/2006/relationships" id="256" r:id="R1608c8bf80174fb3"/>
    <p:sldId xmlns:r="http://schemas.openxmlformats.org/officeDocument/2006/relationships" id="257" r:id="R487618a9534545bf"/>
    <p:sldId xmlns:r="http://schemas.openxmlformats.org/officeDocument/2006/relationships" id="258" r:id="R667624ee9c174df5"/>
    <p:sldId xmlns:r="http://schemas.openxmlformats.org/officeDocument/2006/relationships" id="259" r:id="Rcc660f4a480542b5"/>
    <p:sldId xmlns:r="http://schemas.openxmlformats.org/officeDocument/2006/relationships" id="260" r:id="Re390d82767844757"/>
    <p:sldId xmlns:r="http://schemas.openxmlformats.org/officeDocument/2006/relationships" id="261" r:id="Rde435fa17a134b3c"/>
    <p:sldId xmlns:r="http://schemas.openxmlformats.org/officeDocument/2006/relationships" id="262" r:id="Ra23083f5c70c4101"/>
    <p:sldId xmlns:r="http://schemas.openxmlformats.org/officeDocument/2006/relationships" id="263" r:id="R585542eff3c249b1"/>
    <p:sldId xmlns:r="http://schemas.openxmlformats.org/officeDocument/2006/relationships" id="264" r:id="R030f7e7d44a1475d"/>
    <p:sldId xmlns:r="http://schemas.openxmlformats.org/officeDocument/2006/relationships" id="265" r:id="R93432558b0634930"/>
    <p:sldId xmlns:r="http://schemas.openxmlformats.org/officeDocument/2006/relationships" id="266" r:id="R781584303baf42c4"/>
    <p:sldId xmlns:r="http://schemas.openxmlformats.org/officeDocument/2006/relationships" id="267" r:id="Rd8771c3bb2c44922"/>
    <p:sldId xmlns:r="http://schemas.openxmlformats.org/officeDocument/2006/relationships" id="268" r:id="R83bdef17c6a94752"/>
    <p:sldId xmlns:r="http://schemas.openxmlformats.org/officeDocument/2006/relationships" id="269" r:id="Reea56ddd24f04263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57b5b68bcb574b44"/>
      <p:italic xmlns:r="http://schemas.openxmlformats.org/officeDocument/2006/relationships" r:id="Rd14f2d009419437d"/>
    </p:embeddedFont>
    <p:embeddedFont>
      <p:font typeface="Lora SemiBold"/>
      <p:regular xmlns:r="http://schemas.openxmlformats.org/officeDocument/2006/relationships" r:id="Rcd1da056f6374455"/>
      <p:bold xmlns:r="http://schemas.openxmlformats.org/officeDocument/2006/relationships" r:id="R259a8fa499b946a2"/>
      <p:italic xmlns:r="http://schemas.openxmlformats.org/officeDocument/2006/relationships" r:id="Re373a351f9684916"/>
      <p:boldItalic xmlns:r="http://schemas.openxmlformats.org/officeDocument/2006/relationships" r:id="R8e5ebe671ec44ccb"/>
    </p:embeddedFont>
    <p:embeddedFont>
      <p:font typeface="OpenAI Sans"/>
      <p:regular xmlns:r="http://schemas.openxmlformats.org/officeDocument/2006/relationships" r:id="Rc6d75abe19dc42ec"/>
      <p:bold xmlns:r="http://schemas.openxmlformats.org/officeDocument/2006/relationships" r:id="R78212d1e898342af"/>
      <p:italic xmlns:r="http://schemas.openxmlformats.org/officeDocument/2006/relationships" r:id="R37149aec3078438c"/>
      <p:boldItalic xmlns:r="http://schemas.openxmlformats.org/officeDocument/2006/relationships" r:id="R25b6bec55f764b7e"/>
    </p:embeddedFont>
    <p:embeddedFont>
      <p:font typeface="Roboto"/>
      <p:regular xmlns:r="http://schemas.openxmlformats.org/officeDocument/2006/relationships" r:id="R570da9c98acb46f5"/>
      <p:bold xmlns:r="http://schemas.openxmlformats.org/officeDocument/2006/relationships" r:id="R91c6592dcb5748c8"/>
      <p:italic xmlns:r="http://schemas.openxmlformats.org/officeDocument/2006/relationships" r:id="R39d78f6cdb48475e"/>
      <p:boldItalic xmlns:r="http://schemas.openxmlformats.org/officeDocument/2006/relationships" r:id="Raa58055106244eb4"/>
    </p:embeddedFont>
    <p:embeddedFont>
      <p:font typeface="Roboto Medium"/>
      <p:regular xmlns:r="http://schemas.openxmlformats.org/officeDocument/2006/relationships" r:id="Rc2f686212d314ee0"/>
      <p:italic xmlns:r="http://schemas.openxmlformats.org/officeDocument/2006/relationships" r:id="Re9bd2d702d8b41f3"/>
    </p:embeddedFont>
    <p:embeddedFont>
      <p:font typeface="Roboto SemiBold"/>
      <p:regular xmlns:r="http://schemas.openxmlformats.org/officeDocument/2006/relationships" r:id="R08e6325614af4d41"/>
      <p:bold xmlns:r="http://schemas.openxmlformats.org/officeDocument/2006/relationships" r:id="Reb3888eab29a42dd"/>
      <p:italic xmlns:r="http://schemas.openxmlformats.org/officeDocument/2006/relationships" r:id="Rea0f068cd5b74400"/>
      <p:boldItalic xmlns:r="http://schemas.openxmlformats.org/officeDocument/2006/relationships" r:id="R45919aa3d6664f6f"/>
    </p:embeddedFont>
    <p:embeddedFont>
      <p:font typeface="Roboto Serif 14pt"/>
      <p:regular xmlns:r="http://schemas.openxmlformats.org/officeDocument/2006/relationships" r:id="R446d98e53c53454a"/>
      <p:bold xmlns:r="http://schemas.openxmlformats.org/officeDocument/2006/relationships" r:id="R6cb6453a67494d70"/>
      <p:italic xmlns:r="http://schemas.openxmlformats.org/officeDocument/2006/relationships" r:id="Rb020a2d8fb384743"/>
      <p:boldItalic xmlns:r="http://schemas.openxmlformats.org/officeDocument/2006/relationships" r:id="R88cc7f213cd34943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3f7db6487041cf" /><Relationship Type="http://schemas.openxmlformats.org/officeDocument/2006/relationships/slideMaster" Target="/ppt/slideMasters/slideMaster1.xml" Id="R23d307ec3d454c54" /><Relationship Type="http://schemas.openxmlformats.org/officeDocument/2006/relationships/notesMaster" Target="/ppt/notesMasters/notesMaster1.xml" Id="R6a2449fac4de44a2" /><Relationship Type="http://schemas.openxmlformats.org/officeDocument/2006/relationships/presProps" Target="/ppt/presProps.xml" Id="R18e6a919cdd94589" /><Relationship Type="http://schemas.openxmlformats.org/officeDocument/2006/relationships/viewProps" Target="/ppt/viewProps.xml" Id="R163b0ce6902843d6" /><Relationship Type="http://schemas.openxmlformats.org/officeDocument/2006/relationships/tableStyles" Target="/ppt/tableStyles.xml" Id="Rc964c5afa57f4691" /><Relationship Type="http://schemas.openxmlformats.org/officeDocument/2006/relationships/font" Target="/ppt/fonts/font.dat" Id="R57b5b68bcb574b44" /><Relationship Type="http://schemas.openxmlformats.org/officeDocument/2006/relationships/font" Target="/ppt/fonts/font2.dat" Id="Rd14f2d009419437d" /><Relationship Type="http://schemas.openxmlformats.org/officeDocument/2006/relationships/font" Target="/ppt/fonts/font3.dat" Id="Rcd1da056f6374455" /><Relationship Type="http://schemas.openxmlformats.org/officeDocument/2006/relationships/font" Target="/ppt/fonts/font4.dat" Id="R259a8fa499b946a2" /><Relationship Type="http://schemas.openxmlformats.org/officeDocument/2006/relationships/font" Target="/ppt/fonts/font5.dat" Id="Re373a351f9684916" /><Relationship Type="http://schemas.openxmlformats.org/officeDocument/2006/relationships/font" Target="/ppt/fonts/font6.dat" Id="R8e5ebe671ec44ccb" /><Relationship Type="http://schemas.openxmlformats.org/officeDocument/2006/relationships/font" Target="/ppt/fonts/font7.dat" Id="Rc6d75abe19dc42ec" /><Relationship Type="http://schemas.openxmlformats.org/officeDocument/2006/relationships/font" Target="/ppt/fonts/font8.dat" Id="R78212d1e898342af" /><Relationship Type="http://schemas.openxmlformats.org/officeDocument/2006/relationships/font" Target="/ppt/fonts/font9.dat" Id="R37149aec3078438c" /><Relationship Type="http://schemas.openxmlformats.org/officeDocument/2006/relationships/font" Target="/ppt/fonts/font10.dat" Id="R25b6bec55f764b7e" /><Relationship Type="http://schemas.openxmlformats.org/officeDocument/2006/relationships/font" Target="/ppt/fonts/font11.dat" Id="R570da9c98acb46f5" /><Relationship Type="http://schemas.openxmlformats.org/officeDocument/2006/relationships/font" Target="/ppt/fonts/font12.dat" Id="R91c6592dcb5748c8" /><Relationship Type="http://schemas.openxmlformats.org/officeDocument/2006/relationships/font" Target="/ppt/fonts/font13.dat" Id="R39d78f6cdb48475e" /><Relationship Type="http://schemas.openxmlformats.org/officeDocument/2006/relationships/font" Target="/ppt/fonts/font14.dat" Id="Raa58055106244eb4" /><Relationship Type="http://schemas.openxmlformats.org/officeDocument/2006/relationships/font" Target="/ppt/fonts/font15.dat" Id="Rc2f686212d314ee0" /><Relationship Type="http://schemas.openxmlformats.org/officeDocument/2006/relationships/font" Target="/ppt/fonts/font16.dat" Id="Re9bd2d702d8b41f3" /><Relationship Type="http://schemas.openxmlformats.org/officeDocument/2006/relationships/font" Target="/ppt/fonts/font17.dat" Id="R08e6325614af4d41" /><Relationship Type="http://schemas.openxmlformats.org/officeDocument/2006/relationships/font" Target="/ppt/fonts/font18.dat" Id="Reb3888eab29a42dd" /><Relationship Type="http://schemas.openxmlformats.org/officeDocument/2006/relationships/font" Target="/ppt/fonts/font19.dat" Id="Rea0f068cd5b74400" /><Relationship Type="http://schemas.openxmlformats.org/officeDocument/2006/relationships/font" Target="/ppt/fonts/font20.dat" Id="R45919aa3d6664f6f" /><Relationship Type="http://schemas.openxmlformats.org/officeDocument/2006/relationships/font" Target="/ppt/fonts/font21.dat" Id="R446d98e53c53454a" /><Relationship Type="http://schemas.openxmlformats.org/officeDocument/2006/relationships/font" Target="/ppt/fonts/font22.dat" Id="R6cb6453a67494d70" /><Relationship Type="http://schemas.openxmlformats.org/officeDocument/2006/relationships/font" Target="/ppt/fonts/font23.dat" Id="Rb020a2d8fb384743" /><Relationship Type="http://schemas.openxmlformats.org/officeDocument/2006/relationships/font" Target="/ppt/fonts/font24.dat" Id="R88cc7f213cd34943" /><Relationship Type="http://schemas.openxmlformats.org/officeDocument/2006/relationships/slide" Target="/ppt/slides/slide1.xml" Id="R1608c8bf80174fb3" /><Relationship Type="http://schemas.openxmlformats.org/officeDocument/2006/relationships/slide" Target="/ppt/slides/slide2.xml" Id="R487618a9534545bf" /><Relationship Type="http://schemas.openxmlformats.org/officeDocument/2006/relationships/slide" Target="/ppt/slides/slide3.xml" Id="R667624ee9c174df5" /><Relationship Type="http://schemas.openxmlformats.org/officeDocument/2006/relationships/slide" Target="/ppt/slides/slide4.xml" Id="Rcc660f4a480542b5" /><Relationship Type="http://schemas.openxmlformats.org/officeDocument/2006/relationships/slide" Target="/ppt/slides/slide5.xml" Id="Re390d82767844757" /><Relationship Type="http://schemas.openxmlformats.org/officeDocument/2006/relationships/slide" Target="/ppt/slides/slide6.xml" Id="Rde435fa17a134b3c" /><Relationship Type="http://schemas.openxmlformats.org/officeDocument/2006/relationships/slide" Target="/ppt/slides/slide7.xml" Id="Ra23083f5c70c4101" /><Relationship Type="http://schemas.openxmlformats.org/officeDocument/2006/relationships/slide" Target="/ppt/slides/slide8.xml" Id="R585542eff3c249b1" /><Relationship Type="http://schemas.openxmlformats.org/officeDocument/2006/relationships/slide" Target="/ppt/slides/slide9.xml" Id="R030f7e7d44a1475d" /><Relationship Type="http://schemas.openxmlformats.org/officeDocument/2006/relationships/slide" Target="/ppt/slides/slide10.xml" Id="R93432558b0634930" /><Relationship Type="http://schemas.openxmlformats.org/officeDocument/2006/relationships/slide" Target="/ppt/slides/slide11.xml" Id="R781584303baf42c4" /><Relationship Type="http://schemas.openxmlformats.org/officeDocument/2006/relationships/slide" Target="/ppt/slides/slide12.xml" Id="Rd8771c3bb2c44922" /><Relationship Type="http://schemas.openxmlformats.org/officeDocument/2006/relationships/slide" Target="/ppt/slides/slide13.xml" Id="R83bdef17c6a94752" /><Relationship Type="http://schemas.openxmlformats.org/officeDocument/2006/relationships/slide" Target="/ppt/slides/slide14.xml" Id="Reea56ddd24f042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f44d4ba39a4e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f1e549abb4425a" /><Relationship Type="http://schemas.openxmlformats.org/officeDocument/2006/relationships/notesMaster" Target="/ppt/notesMasters/notesMaster1.xml" Id="R8a181c0c653f45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d94991aad497c" /><Relationship Type="http://schemas.openxmlformats.org/officeDocument/2006/relationships/notesMaster" Target="/ppt/notesMasters/notesMaster1.xml" Id="R2ed2d498d11f46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a89fd6f55b4b6e" /><Relationship Type="http://schemas.openxmlformats.org/officeDocument/2006/relationships/notesMaster" Target="/ppt/notesMasters/notesMaster1.xml" Id="Rdfae22f1e50b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3967c93db14363" /><Relationship Type="http://schemas.openxmlformats.org/officeDocument/2006/relationships/notesMaster" Target="/ppt/notesMasters/notesMaster1.xml" Id="Rdc43a32f6fdc4b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76da63b17a4757" /><Relationship Type="http://schemas.openxmlformats.org/officeDocument/2006/relationships/notesMaster" Target="/ppt/notesMasters/notesMaster1.xml" Id="R6b07bd37ffbe4c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dcb3804e2b4735" /><Relationship Type="http://schemas.openxmlformats.org/officeDocument/2006/relationships/notesMaster" Target="/ppt/notesMasters/notesMaster1.xml" Id="Reacb4b9e57aa43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5ddd9bc1654181" /><Relationship Type="http://schemas.openxmlformats.org/officeDocument/2006/relationships/notesMaster" Target="/ppt/notesMasters/notesMaster1.xml" Id="R25b6ab96051442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4c8fa6a1744f6f" /><Relationship Type="http://schemas.openxmlformats.org/officeDocument/2006/relationships/notesMaster" Target="/ppt/notesMasters/notesMaster1.xml" Id="Ra29f7bd887d945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f3028acf194a35" /><Relationship Type="http://schemas.openxmlformats.org/officeDocument/2006/relationships/notesMaster" Target="/ppt/notesMasters/notesMaster1.xml" Id="Rfb40758cf0064e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3ea8a01a7a4aa2" /><Relationship Type="http://schemas.openxmlformats.org/officeDocument/2006/relationships/notesMaster" Target="/ppt/notesMasters/notesMaster1.xml" Id="Ra520c7090b8a4a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a2f29d7a1143c3" /><Relationship Type="http://schemas.openxmlformats.org/officeDocument/2006/relationships/notesMaster" Target="/ppt/notesMasters/notesMaster1.xml" Id="R4bccdc4a0e0e40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9a918ad9144416" /><Relationship Type="http://schemas.openxmlformats.org/officeDocument/2006/relationships/notesMaster" Target="/ppt/notesMasters/notesMaster1.xml" Id="R97744703d40a405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ab85cc63674eec" /><Relationship Type="http://schemas.openxmlformats.org/officeDocument/2006/relationships/notesMaster" Target="/ppt/notesMasters/notesMaster1.xml" Id="R56d01e3261e242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9f2d0fe935493d" /><Relationship Type="http://schemas.openxmlformats.org/officeDocument/2006/relationships/notesMaster" Target="/ppt/notesMasters/notesMaster1.xml" Id="R9607447eb006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API https://data-charts-api.hexlet.app, период 2023-03-01–2023-09-01; корневой ads.csv; conversion.json и ads.json. Расчёты и ограничения: ANALYSIS.md, charts_project.ipynb. Шаблон Business Review.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e5f6776fd46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05b2a7fa9749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0821ca86b4a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35060cf894b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d0d0efe5354c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c7f1f3f944c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3493f0270499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a16e22ca44a0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d1c682c5874f06" /><Relationship Type="http://schemas.openxmlformats.org/officeDocument/2006/relationships/slideLayout" Target="/ppt/slideLayouts/slideLayout1.xml" Id="Re372faca44894af1" /><Relationship Type="http://schemas.openxmlformats.org/officeDocument/2006/relationships/slideLayout" Target="/ppt/slideLayouts/slideLayout2.xml" Id="R79cf1a10dcef4000" /><Relationship Type="http://schemas.openxmlformats.org/officeDocument/2006/relationships/slideLayout" Target="/ppt/slideLayouts/slideLayout3.xml" Id="Rdbceebebbaa04b03" /><Relationship Type="http://schemas.openxmlformats.org/officeDocument/2006/relationships/slideLayout" Target="/ppt/slideLayouts/slideLayout4.xml" Id="Rdf837e25ec184983" /><Relationship Type="http://schemas.openxmlformats.org/officeDocument/2006/relationships/slideLayout" Target="/ppt/slideLayouts/slideLayout5.xml" Id="R4394184356b24e02" /><Relationship Type="http://schemas.openxmlformats.org/officeDocument/2006/relationships/slideLayout" Target="/ppt/slideLayouts/slideLayout6.xml" Id="R56fb5c5dbc8a4214" /><Relationship Type="http://schemas.openxmlformats.org/officeDocument/2006/relationships/slideLayout" Target="/ppt/slideLayouts/slideLayout7.xml" Id="R9b3afea260c44dcf" /><Relationship Type="http://schemas.openxmlformats.org/officeDocument/2006/relationships/slideLayout" Target="/ppt/slideLayouts/slideLayout8.xml" Id="R9c0f2fed54da4ce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2faca44894af1"/>
    <p:sldLayoutId xmlns:r="http://schemas.openxmlformats.org/officeDocument/2006/relationships" id="2147483650" r:id="R79cf1a10dcef4000"/>
    <p:sldLayoutId xmlns:r="http://schemas.openxmlformats.org/officeDocument/2006/relationships" id="2147483651" r:id="Rdbceebebbaa04b03"/>
    <p:sldLayoutId xmlns:r="http://schemas.openxmlformats.org/officeDocument/2006/relationships" id="2147483652" r:id="Rdf837e25ec184983"/>
    <p:sldLayoutId xmlns:r="http://schemas.openxmlformats.org/officeDocument/2006/relationships" id="2147483653" r:id="R4394184356b24e02"/>
    <p:sldLayoutId xmlns:r="http://schemas.openxmlformats.org/officeDocument/2006/relationships" id="2147483654" r:id="R56fb5c5dbc8a4214"/>
    <p:sldLayoutId xmlns:r="http://schemas.openxmlformats.org/officeDocument/2006/relationships" id="2147483655" r:id="R9b3afea260c44dcf"/>
    <p:sldLayoutId xmlns:r="http://schemas.openxmlformats.org/officeDocument/2006/relationships" id="2147483656" r:id="R9c0f2fed54da4ce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618d75cfb44d3" /><Relationship Type="http://schemas.openxmlformats.org/officeDocument/2006/relationships/notesSlide" Target="/ppt/notesSlides/notesSlide1.xml" Id="Rc48a424432444c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1618185be4267" /><Relationship Type="http://schemas.openxmlformats.org/officeDocument/2006/relationships/notesSlide" Target="/ppt/notesSlides/notesSlide2.xml" Id="R897361e7c3034d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c9eee48e9439d" /><Relationship Type="http://schemas.openxmlformats.org/officeDocument/2006/relationships/notesSlide" Target="/ppt/notesSlides/notesSlide3.xml" Id="R4d2b985519614d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3d63a30cef4bf6" /><Relationship Type="http://schemas.openxmlformats.org/officeDocument/2006/relationships/notesSlide" Target="/ppt/notesSlides/notesSlide4.xml" Id="R20353cc3dca94d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d6e7cd8c44f95" /><Relationship Type="http://schemas.openxmlformats.org/officeDocument/2006/relationships/notesSlide" Target="/ppt/notesSlides/notesSlide5.xml" Id="Rb707f6ff69994b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acf7b14e544da6" /><Relationship Type="http://schemas.openxmlformats.org/officeDocument/2006/relationships/notesSlide" Target="/ppt/notesSlides/notesSlide6.xml" Id="R0e71fdba8b8344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c7bb142cf54f42" /><Relationship Type="http://schemas.openxmlformats.org/officeDocument/2006/relationships/notesSlide" Target="/ppt/notesSlides/notesSlide7.xml" Id="R73d3ba74033c42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444915c2b45c2" /><Relationship Type="http://schemas.openxmlformats.org/officeDocument/2006/relationships/notesSlide" Target="/ppt/notesSlides/notesSlide8.xml" Id="Rf1e5a44e57e14a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ad5163fdb4fb7" /><Relationship Type="http://schemas.openxmlformats.org/officeDocument/2006/relationships/notesSlide" Target="/ppt/notesSlides/notesSlide9.xml" Id="R533c53d3895947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a5663d99a4618" /><Relationship Type="http://schemas.openxmlformats.org/officeDocument/2006/relationships/chart" Target="/ppt/slides/charts/chart1.xml" Id="Rb5db91c5ec8540e7" /><Relationship Type="http://schemas.openxmlformats.org/officeDocument/2006/relationships/notesSlide" Target="/ppt/notesSlides/notesSlide10.xml" Id="R5fe36f79a19648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abd70865bb4500" /><Relationship Type="http://schemas.openxmlformats.org/officeDocument/2006/relationships/chart" Target="/ppt/slides/charts/chart2.xml" Id="R2fb98906300b4bdd" /><Relationship Type="http://schemas.openxmlformats.org/officeDocument/2006/relationships/notesSlide" Target="/ppt/notesSlides/notesSlide11.xml" Id="Raf7565189b8d42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bcd0278533a4811" /><Relationship Type="http://schemas.openxmlformats.org/officeDocument/2006/relationships/notesSlide" Target="/ppt/notesSlides/notesSlide12.xml" Id="Rd77efb3c93864c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33e5a8011407f" /><Relationship Type="http://schemas.openxmlformats.org/officeDocument/2006/relationships/notesSlide" Target="/ppt/notesSlides/notesSlide13.xml" Id="Ra56fadd8cb074b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4feed6bd14ba1" /><Relationship Type="http://schemas.openxmlformats.org/officeDocument/2006/relationships/notesSlide" Target="/ppt/notesSlides/notesSlide14.xml" Id="R316da86207bc4f7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r="http://schemas.openxmlformats.org/officeDocument/2006/relationships">
  <ns0:lang val="en-US"/>
  <ns0:roundedCorners val="0"/>
  <ns1:AlternateContent>
    <ns1:Choice Requires="c14">
      <ns2:style val="102"/>
    </ns1:Choice>
    <ns1:Fallback>
      <ns0:style val="2"/>
    </ns1:Fallback>
  </ns1:AlternateContent>
  <ns0:chart>
    <ns0:title>
      <ns0:tx>
        <ns0:rich>
          <ns3:bodyPr/>
          <ns3:lstStyle/>
          <ns3:p>
            <ns3:r>
              <ns3:rPr sz="1800" b="0" i="0" u="none" spc="0">
                <ns3:solidFill>
                  <ns3:schemeClr val="tx1"/>
                </ns3:solidFill>
                <ns3:latin typeface="Roboto"/>
                <ns3:ea typeface="Roboto"/>
                <ns3:cs typeface="Roboto"/>
              </ns3:rPr>
              <ns3:t>Средние дневные показатели</ns3:t>
            </ns3:r>
          </ns3:p>
        </ns0:rich>
      </ns0:tx>
      <ns0:layout>
        <ns0:manualLayout>
          <ns0:xMode val="edge"/>
          <ns0:yMode val="edge"/>
          <ns0:x val="0.013821697687269586"/>
          <ns0:y val="0.02527575450117403"/>
        </ns0:manualLayout>
      </ns0:layout>
      <ns0:overlay val="0"/>
      <ns0:txPr>
        <ns3:bodyPr rot="0" vert="horz" anchor="ctr" anchorCtr="1"/>
        <ns3:lstStyle/>
        <ns3:p>
          <ns3:pPr>
            <ns3:defRPr sz="1800" b="0" i="0" u="none" spc="0">
              <ns3:solidFill>
                <ns3:schemeClr val="tx1"/>
              </ns3:solidFill>
              <ns3:latin typeface="Roboto"/>
              <ns3:ea typeface="Roboto"/>
              <ns3:cs typeface="Roboto"/>
            </ns3:defRPr>
          </ns3:pPr>
        </ns3:p>
      </ns0:txPr>
    </ns0:title>
    <ns0:autoTitleDeleted val="0"/>
    <ns0:plotArea>
      <ns0:barChart>
        <ns0:barDir val="col"/>
        <ns0:grouping val="clustered"/>
        <ns0:varyColors val="0"/>
        <ns0:ser>
          <ns0:idx val="0"/>
          <ns0:order val="0"/>
          <ns0:tx>
            <ns0:v>Визиты</ns0:v>
          </ns0:tx>
          <ns0:spPr>
            <ns3:solidFill>
              <ns3:schemeClr val="accent1"/>
            </ns3:solidFill>
            <ns3:ln>
              <ns3:noFill/>
            </ns3:ln>
          </ns0:spPr>
          <ns0:invertIfNegative val="0"/>
          <ns0:dLbls>
            <ns0:spPr>
              <ns3:noFill/>
              <ns3:ln>
                <ns3:noFill/>
              </ns3:ln>
            </ns0:spPr>
            <ns0:txPr>
              <ns3:bodyPr anchorCtr="1"/>
              <ns3:lstStyle/>
              <ns3:p>
                <ns3:pPr>
                  <ns3:defRPr sz="1400" b="1" i="0" u="none" kern="1200" baseline="0">
                    <ns3:solidFill>
                      <ns3:schemeClr val="bg1"/>
                    </ns3:solidFill>
                    <ns3:latin typeface="+mn-lt"/>
                    <ns3:ea typeface="+mn-lt"/>
                    <ns3:cs typeface="+mn-lt"/>
                  </ns3:defRPr>
                </ns3:pPr>
              </ns3:p>
            </ns0:txPr>
            <ns0:dLblPos val="ctr"/>
            <ns0:showLegendKey val="0"/>
            <ns0:showVal val="1"/>
            <ns0:showCatName val="0"/>
            <ns0:showSerName val="0"/>
            <ns0:showPercent val="0"/>
            <ns0:showBubbleSize val="0"/>
            <ns0:showLeaderLines val="0"/>
            <ns0:leaderLines>
              <ns0:spPr>
                <ns3:ln w="9525" cmpd="sng">
                  <ns3:solidFill>
                    <ns3:schemeClr val="tx1">
                      <ns3:lumMod val="35000"/>
                      <ns3:lumOff val="65000"/>
                    </ns3:schemeClr>
                  </ns3:solidFill>
                </ns3:ln>
              </ns0:spPr>
            </ns0:leaderLines>
            <ns0:numFmt formatCode="0.0" sourceLinked="0"/>
          </ns0:dLbls>
          <ns0:cat>
            <ns0:strRef>
              <ns0:f>'Chart Data'!$A$2:$A$7</ns0:f>
              <ns0:strCache>
                <ns0:ptCount val="6"/>
                <ns0:pt idx="0">
                  <ns0:v>Мар</ns0:v>
                </ns0:pt>
                <ns0:pt idx="1">
                  <ns0:v>Апр</ns0:v>
                </ns0:pt>
                <ns0:pt idx="2">
                  <ns0:v>Май</ns0:v>
                </ns0:pt>
                <ns0:pt idx="3">
                  <ns0:v>Июн</ns0:v>
                </ns0:pt>
                <ns0:pt idx="4">
                  <ns0:v>Июл</ns0:v>
                </ns0:pt>
                <ns0:pt idx="5">
                  <ns0:v>Авг</ns0:v>
                </ns0:pt>
              </ns0:strCache>
            </ns0:strRef>
          </ns0:cat>
          <ns0:val>
            <ns0:numRef>
              <ns0:f>'Chart Data'!$B$2:$B$7</ns0:f>
              <ns0:numCache>
                <ns0:formatCode>0.0</ns0:formatCode>
                <ns0:ptCount val="6"/>
                <ns0:pt idx="0">
                  <ns0:v>95.8</ns0:v>
                </ns0:pt>
                <ns0:pt idx="1">
                  <ns0:v>100.0</ns0:v>
                </ns0:pt>
                <ns0:pt idx="2">
                  <ns0:v>76.7</ns0:v>
                </ns0:pt>
                <ns0:pt idx="3">
                  <ns0:v>86.9</ns0:v>
                </ns0:pt>
                <ns0:pt idx="4">
                  <ns0:v>98.3</ns0:v>
                </ns0:pt>
                <ns0:pt idx="5">
                  <ns0:v>103.7</ns0:v>
                </ns0:pt>
              </ns0:numCache>
            </ns0:numRef>
          </ns0:val>
        </ns0:ser>
        <ns0:dLbls>
          <ns0:showLegendKey val="0"/>
          <ns0:showVal val="0"/>
          <ns0:showCatName val="0"/>
          <ns0:showSerName val="0"/>
          <ns0:showPercent val="0"/>
          <ns0:showBubbleSize val="0"/>
          <ns0:numFmt formatCode="0.0" sourceLinked="0"/>
          <ns0:dLblPos val="ctr"/>
        </ns0:dLbls>
        <ns0:gapWidth val="83"/>
        <ns0:axId val="1785928255"/>
        <ns0:axId val="1769229823"/>
      </ns0:barChart>
      <ns0:lineChart>
        <ns0:grouping val="standard"/>
        <ns0:varyColors val="0"/>
        <ns0:ser>
          <ns0:idx val="1"/>
          <ns0:order val="1"/>
          <ns0:tx>
            <ns0:v>Регистрации</ns0:v>
          </ns0:tx>
          <ns0:spPr>
            <ns3:ln w="28575">
              <ns3:solidFill>
                <ns3:schemeClr val="tx2">
                  <ns3:lumMod val="50000"/>
                  <ns3:lumOff val="50000"/>
                </ns3:schemeClr>
              </ns3:solidFill>
            </ns3:ln>
          </ns0:spPr>
          <ns0:marker>
            <ns0:symbol val="circle"/>
            <ns0:size val="6"/>
            <ns0:spPr>
              <ns3:solidFill>
                <ns3:schemeClr val="tx2">
                  <ns3:lumMod val="50000"/>
                  <ns3:lumOff val="50000"/>
                </ns3:schemeClr>
              </ns3:solidFill>
              <ns3:ln w="9525">
                <ns3:solidFill>
                  <ns3:schemeClr val="tx2">
                    <ns3:lumMod val="50000"/>
                    <ns3:lumOff val="50000"/>
                  </ns3:schemeClr>
                </ns3:solidFill>
              </ns3:ln>
            </ns0:spPr>
          </ns0:marker>
          <ns0:dLbls>
            <ns0:spPr>
              <ns3:noFill/>
              <ns3:ln>
                <ns3:noFill/>
              </ns3:ln>
            </ns0:spPr>
            <ns0:txPr>
              <ns3:bodyPr anchorCtr="1"/>
              <ns3:lstStyle/>
              <ns3:p>
                <ns3:pPr>
                  <ns3:defRPr sz="1400" b="1" i="0" u="none" kern="1200" baseline="0">
                    <ns3:solidFill>
                      <ns3:schemeClr val="tx1"/>
                    </ns3:solidFill>
                    <ns3:latin typeface="+mn-lt"/>
                    <ns3:ea typeface="+mn-lt"/>
                    <ns3:cs typeface="+mn-lt"/>
                  </ns3:defRPr>
                </ns3:pPr>
              </ns3:p>
            </ns0:txPr>
            <ns0:showLegendKey val="0"/>
            <ns0:showVal val="1"/>
            <ns0:showCatName val="0"/>
            <ns0:showSerName val="0"/>
            <ns0:showPercent val="0"/>
            <ns0:showBubbleSize val="0"/>
            <ns0:showLeaderLines val="0"/>
            <ns0:leaderLines>
              <ns0:spPr>
                <ns3:ln w="9525" cmpd="sng">
                  <ns3:solidFill>
                    <ns3:schemeClr val="tx1">
                      <ns3:lumMod val="35000"/>
                      <ns3:lumOff val="65000"/>
                    </ns3:schemeClr>
                  </ns3:solidFill>
                </ns3:ln>
              </ns0:spPr>
            </ns0:leaderLines>
            <ns0:numFmt formatCode="0.0" sourceLinked="0"/>
            <ns0:dLblPos val="t"/>
          </ns0:dLbls>
          <ns0:cat>
            <ns0:strRef>
              <ns0:f>'Chart Data'!$C$2:$C$7</ns0:f>
              <ns0:strCache>
                <ns0:ptCount val="6"/>
                <ns0:pt idx="0">
                  <ns0:v>Мар</ns0:v>
                </ns0:pt>
                <ns0:pt idx="1">
                  <ns0:v>Апр</ns0:v>
                </ns0:pt>
                <ns0:pt idx="2">
                  <ns0:v>Май</ns0:v>
                </ns0:pt>
                <ns0:pt idx="3">
                  <ns0:v>Июн</ns0:v>
                </ns0:pt>
                <ns0:pt idx="4">
                  <ns0:v>Июл</ns0:v>
                </ns0:pt>
                <ns0:pt idx="5">
                  <ns0:v>Авг</ns0:v>
                </ns0:pt>
              </ns0:strCache>
            </ns0:strRef>
          </ns0:cat>
          <ns0:val>
            <ns0:numRef>
              <ns0:f>'Chart Data'!$D$2:$D$7</ns0:f>
              <ns0:numCache>
                <ns0:formatCode>0.0</ns0:formatCode>
                <ns0:ptCount val="6"/>
                <ns0:pt idx="0">
                  <ns0:v>83.4</ns0:v>
                </ns0:pt>
                <ns0:pt idx="1">
                  <ns0:v>100.0</ns0:v>
                </ns0:pt>
                <ns0:pt idx="2">
                  <ns0:v>72.0</ns0:v>
                </ns0:pt>
                <ns0:pt idx="3">
                  <ns0:v>71.1</ns0:v>
                </ns0:pt>
                <ns0:pt idx="4">
                  <ns0:v>78.5</ns0:v>
                </ns0:pt>
                <ns0:pt idx="5">
                  <ns0:v>81.6</ns0:v>
                </ns0:pt>
              </ns0:numCache>
            </ns0:numRef>
          </ns0:val>
          <ns0:smooth val="0"/>
        </ns0:ser>
        <ns0:dLbls>
          <ns0:showLegendKey val="0"/>
          <ns0:showVal val="0"/>
          <ns0:showCatName val="0"/>
          <ns0:showSerName val="0"/>
          <ns0:showPercent val="0"/>
          <ns0:showBubbleSize val="0"/>
          <ns0:numFmt formatCode="0.0" sourceLinked="0"/>
          <ns0:dLblPos val="t"/>
        </ns0:dLbls>
        <ns0:smooth val="0"/>
        <ns0:axId val="1785928255"/>
        <ns0:axId val="1769229823"/>
      </ns0:lineChart>
      <ns0:catAx>
        <ns0:axId val="1785928255"/>
        <ns0:scaling>
          <ns0:orientation val="minMax"/>
        </ns0:scaling>
        <ns0:delete val="0"/>
        <ns0:axPos val="b"/>
        <ns0:numFmt formatCode="General" sourceLinked="1"/>
        <ns0:majorTickMark val="none"/>
        <ns0:minorTickMark val="none"/>
        <ns0:tickLblPos val="nextTo"/>
        <ns0:spPr>
          <ns3:ln w="9525" cmpd="sng">
            <ns3:solidFill>
              <ns3:schemeClr val="tx1"/>
            </ns3:solidFill>
          </ns3:ln>
        </ns0:spPr>
        <ns0:txPr>
          <ns3:bodyPr rot="-60000000" spcFirstLastPara="1" vert="horz" wrap="square" anchor="ctr" anchorCtr="1"/>
          <ns3:lstStyle/>
          <ns3:p>
            <ns3:pPr>
              <ns3:defRPr sz="1100" b="0" i="0" u="none" kern="1200" baseline="0">
                <ns3:solidFill>
                  <ns3:schemeClr val="tx1"/>
                </ns3:solidFill>
                <ns3:latin typeface="+mn-lt"/>
                <ns3:ea typeface="+mn-lt"/>
                <ns3:cs typeface="+mn-lt"/>
              </ns3:defRPr>
            </ns3:pPr>
          </ns3:p>
        </ns0:txPr>
        <ns0:crossAx val="1769229823"/>
        <ns0:crosses val="autoZero"/>
        <ns0:lblAlgn val="ctr"/>
        <ns0:noMultiLvlLbl val="0"/>
        <ns0:lblOffset val="100"/>
      </ns0:catAx>
      <ns0:valAx>
        <ns0:axId val="1769229823"/>
        <ns0:scaling>
          <ns0:orientation val="minMax"/>
          <ns0:min val="0"/>
          <ns0:max val="120"/>
        </ns0:scaling>
        <ns0:delete val="0"/>
        <ns0:axPos val="l"/>
        <ns0:majorGridlines>
          <ns0:spPr>
            <ns3:ln w="9525" cmpd="sng">
              <ns3:noFill/>
            </ns3:ln>
          </ns0:spPr>
        </ns0:majorGridlines>
        <ns0:numFmt formatCode="General" sourceLinked="1"/>
        <ns0:majorTickMark val="none"/>
        <ns0:minorTickMark val="none"/>
        <ns0:tickLblPos val="nextTo"/>
        <ns0:spPr>
          <ns3:ln>
            <ns3:noFill/>
          </ns3:ln>
        </ns0:spPr>
        <ns0:txPr>
          <ns3:bodyPr rot="-60000000" vert="horz" anchor="ctr" anchorCtr="1"/>
          <ns3:lstStyle/>
          <ns3:p>
            <ns3:pPr>
              <ns3:defRPr sz="1100" b="0" i="0" u="none" kern="1200" baseline="0">
                <ns3:solidFill>
                  <ns3:schemeClr val="tx1"/>
                </ns3:solidFill>
                <ns3:latin typeface="Helvetica Neue Medium"/>
                <ns3:ea typeface="Helvetica Neue Medium"/>
                <ns3:cs typeface="Helvetica Neue Medium"/>
              </ns3:defRPr>
            </ns3:pPr>
          </ns3:p>
        </ns0:txPr>
        <ns0:crossAx val="1785928255"/>
        <ns0:crosses val="autoZero"/>
        <ns0:crossBetween val="between"/>
      </ns0:valAx>
      <ns0:spPr>
        <ns3:noFill/>
        <ns3:ln>
          <ns3:noFill/>
        </ns3:ln>
      </ns0:spPr>
    </ns0:plotArea>
    <ns0:legend>
      <ns0:legendPos val="b"/>
      <ns0:overlay val="0"/>
      <ns0:spPr>
        <ns3:noFill/>
      </ns0:spPr>
      <ns0:txPr>
        <ns3:bodyPr rot="0" vert="horz" anchor="ctr" anchorCtr="1"/>
        <ns3:lstStyle/>
        <ns3:p>
          <ns3:pPr>
            <ns3:defRPr sz="1197" b="0" i="0" u="none">
              <ns3:solidFill>
                <ns3:schemeClr val="tx1">
                  <ns3:lumMod val="65000"/>
                  <ns3:lumOff val="35000"/>
                </ns3:schemeClr>
              </ns3:solidFill>
              <ns3:latin typeface="Roboto"/>
              <ns3:ea typeface="Roboto"/>
              <ns3:cs typeface="Roboto"/>
            </ns3:defRPr>
          </ns3:pPr>
        </ns3:p>
      </ns0:txPr>
    </ns0:legend>
    <ns0:plotVisOnly val="1"/>
  </ns0:chart>
  <ns0:spPr>
    <ns3:noFill/>
    <ns3:ln>
      <ns3:noFill/>
    </ns3:ln>
  </ns0:spPr>
  <ns0:externalData r:id="rIdChartSnapshot1">
    <ns0:autoUpdate val="0"/>
  </ns0:externalData>
</ns0:chartSpace>
</file>

<file path=ppt/slides/charts/chart2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r="http://schemas.openxmlformats.org/officeDocument/2006/relationships">
  <ns0:lang val="en-US"/>
  <ns0:roundedCorners val="0"/>
  <ns1:AlternateContent>
    <ns1:Choice Requires="c14">
      <ns2:style val="102"/>
    </ns1:Choice>
    <ns1:Fallback>
      <ns0:style val="2"/>
    </ns1:Fallback>
  </ns1:AlternateContent>
  <ns0:chart>
    <ns0:title>
      <ns0:tx>
        <ns0:rich>
          <ns3:bodyPr/>
          <ns3:lstStyle/>
          <ns3:p>
            <ns3:r>
              <ns3:rPr sz="1800" b="0" i="0" u="none" spc="0">
                <ns3:solidFill>
                  <ns3:schemeClr val="tx1"/>
                </ns3:solidFill>
                <ns3:latin typeface="Roboto"/>
                <ns3:ea typeface="Roboto"/>
                <ns3:cs typeface="Roboto"/>
              </ns3:rPr>
              <ns3:t>За весь период, %</ns3:t>
            </ns3:r>
          </ns3:p>
        </ns0:rich>
      </ns0:tx>
      <ns0:layout>
        <ns0:manualLayout>
          <ns0:xMode val="edge"/>
          <ns0:yMode val="edge"/>
          <ns0:x val="0.013821697687269586"/>
          <ns0:y val="0.02527575450117403"/>
        </ns0:manualLayout>
      </ns0:layout>
      <ns0:overlay val="0"/>
      <ns0:txPr>
        <ns3:bodyPr rot="0" vert="horz" anchor="ctr" anchorCtr="1"/>
        <ns3:lstStyle/>
        <ns3:p>
          <ns3:pPr>
            <ns3:defRPr sz="1800" b="0" i="0" u="none" spc="0">
              <ns3:solidFill>
                <ns3:schemeClr val="tx1"/>
              </ns3:solidFill>
              <ns3:latin typeface="Roboto"/>
              <ns3:ea typeface="Roboto"/>
              <ns3:cs typeface="Roboto"/>
            </ns3:defRPr>
          </ns3:pPr>
        </ns3:p>
      </ns0:txPr>
    </ns0:title>
    <ns0:autoTitleDeleted val="0"/>
    <ns0:plotArea>
      <ns0:barChart>
        <ns0:barDir val="col"/>
        <ns0:grouping val="clustered"/>
        <ns0:varyColors val="0"/>
        <ns0:ser>
          <ns0:idx val="0"/>
          <ns0:order val="0"/>
          <ns0:tx>
            <ns0:v>Платформа</ns0:v>
          </ns0:tx>
          <ns0:spPr>
            <ns3:solidFill>
              <ns3:schemeClr val="accent1"/>
            </ns3:solidFill>
            <ns3:ln>
              <ns3:noFill/>
            </ns3:ln>
          </ns0:spPr>
          <ns0:invertIfNegative val="0"/>
          <ns0:dLbls>
            <ns0:spPr>
              <ns3:noFill/>
              <ns3:ln>
                <ns3:noFill/>
              </ns3:ln>
            </ns0:spPr>
            <ns0:txPr>
              <ns3:bodyPr anchorCtr="1"/>
              <ns3:lstStyle/>
              <ns3:p>
                <ns3:pPr>
                  <ns3:defRPr sz="1400" b="1" i="0" u="none" kern="1200" baseline="0">
                    <ns3:solidFill>
                      <ns3:schemeClr val="bg1"/>
                    </ns3:solidFill>
                    <ns3:latin typeface="+mn-lt"/>
                    <ns3:ea typeface="+mn-lt"/>
                    <ns3:cs typeface="+mn-lt"/>
                  </ns3:defRPr>
                </ns3:pPr>
              </ns3:p>
            </ns0:txPr>
            <ns0:dLblPos val="ctr"/>
            <ns0:showLegendKey val="0"/>
            <ns0:showVal val="1"/>
            <ns0:showCatName val="0"/>
            <ns0:showSerName val="0"/>
            <ns0:showPercent val="0"/>
            <ns0:showBubbleSize val="0"/>
            <ns0:showLeaderLines val="0"/>
            <ns0:leaderLines>
              <ns0:spPr>
                <ns3:ln w="9525" cmpd="sng">
                  <ns3:solidFill>
                    <ns3:schemeClr val="tx1">
                      <ns3:lumMod val="35000"/>
                      <ns3:lumOff val="65000"/>
                    </ns3:schemeClr>
                  </ns3:solidFill>
                </ns3:ln>
              </ns0:spPr>
            </ns0:leaderLines>
            <ns0:numFmt formatCode="0.0" sourceLinked="0"/>
          </ns0:dLbls>
          <ns0:cat>
            <ns0:strRef>
              <ns0:f>'Chart Data'!$A$2:$A$4</ns0:f>
              <ns0:strCache>
                <ns0:ptCount val="3"/>
                <ns0:pt idx="0">
                  <ns0:v>web</ns0:v>
                </ns0:pt>
                <ns0:pt idx="1">
                  <ns0:v>android</ns0:v>
                </ns0:pt>
                <ns0:pt idx="2">
                  <ns0:v>ios</ns0:v>
                </ns0:pt>
              </ns0:strCache>
            </ns0:strRef>
          </ns0:cat>
          <ns0:val>
            <ns0:numRef>
              <ns0:f>'Chart Data'!$B$2:$B$4</ns0:f>
              <ns0:numCache>
                <ns0:formatCode>0.0</ns0:formatCode>
                <ns0:ptCount val="3"/>
                <ns0:pt idx="0">
                  <ns0:v>5.8</ns0:v>
                </ns0:pt>
                <ns0:pt idx="1">
                  <ns0:v>75.7</ns0:v>
                </ns0:pt>
                <ns0:pt idx="2">
                  <ns0:v>75.4</ns0:v>
                </ns0:pt>
              </ns0:numCache>
            </ns0:numRef>
          </ns0:val>
        </ns0:ser>
        <ns0:dLbls>
          <ns0:showLegendKey val="0"/>
          <ns0:showVal val="0"/>
          <ns0:showCatName val="0"/>
          <ns0:showSerName val="0"/>
          <ns0:showPercent val="0"/>
          <ns0:showBubbleSize val="0"/>
          <ns0:numFmt formatCode="0.0" sourceLinked="0"/>
          <ns0:dLblPos val="ctr"/>
        </ns0:dLbls>
        <ns0:gapWidth val="83"/>
        <ns0:axId val="1785928255"/>
        <ns0:axId val="1769229823"/>
      </ns0:barChart>
      <ns0:lineChart>
        <ns0:grouping val="standard"/>
        <ns0:varyColors val="0"/>
        <ns0:ser>
          <ns0:idx val="1"/>
          <ns0:order val="1"/>
          <ns0:tx>
            <ns0:v>Общая</ns0:v>
          </ns0:tx>
          <ns0:spPr>
            <ns3:ln w="28575">
              <ns3:solidFill>
                <ns3:schemeClr val="tx2">
                  <ns3:lumMod val="50000"/>
                  <ns3:lumOff val="50000"/>
                </ns3:schemeClr>
              </ns3:solidFill>
            </ns3:ln>
          </ns0:spPr>
          <ns0:marker>
            <ns0:symbol val="circle"/>
            <ns0:size val="6"/>
            <ns0:spPr>
              <ns3:solidFill>
                <ns3:schemeClr val="tx2">
                  <ns3:lumMod val="50000"/>
                  <ns3:lumOff val="50000"/>
                </ns3:schemeClr>
              </ns3:solidFill>
              <ns3:ln w="9525">
                <ns3:solidFill>
                  <ns3:schemeClr val="tx2">
                    <ns3:lumMod val="50000"/>
                    <ns3:lumOff val="50000"/>
                  </ns3:schemeClr>
                </ns3:solidFill>
              </ns3:ln>
            </ns0:spPr>
          </ns0:marker>
          <ns0:dLbls>
            <ns0:spPr>
              <ns3:noFill/>
              <ns3:ln>
                <ns3:noFill/>
              </ns3:ln>
            </ns0:spPr>
            <ns0:txPr>
              <ns3:bodyPr anchorCtr="1"/>
              <ns3:lstStyle/>
              <ns3:p>
                <ns3:pPr>
                  <ns3:defRPr sz="1400" b="1" i="0" u="none" kern="1200" baseline="0">
                    <ns3:solidFill>
                      <ns3:schemeClr val="tx1"/>
                    </ns3:solidFill>
                    <ns3:latin typeface="+mn-lt"/>
                    <ns3:ea typeface="+mn-lt"/>
                    <ns3:cs typeface="+mn-lt"/>
                  </ns3:defRPr>
                </ns3:pPr>
              </ns3:p>
            </ns0:txPr>
            <ns0:showLegendKey val="0"/>
            <ns0:showVal val="1"/>
            <ns0:showCatName val="0"/>
            <ns0:showSerName val="0"/>
            <ns0:showPercent val="0"/>
            <ns0:showBubbleSize val="0"/>
            <ns0:showLeaderLines val="0"/>
            <ns0:leaderLines>
              <ns0:spPr>
                <ns3:ln w="9525" cmpd="sng">
                  <ns3:solidFill>
                    <ns3:schemeClr val="tx1">
                      <ns3:lumMod val="35000"/>
                      <ns3:lumOff val="65000"/>
                    </ns3:schemeClr>
                  </ns3:solidFill>
                </ns3:ln>
              </ns0:spPr>
            </ns0:leaderLines>
            <ns0:numFmt formatCode="0.0" sourceLinked="0"/>
            <ns0:dLblPos val="t"/>
          </ns0:dLbls>
          <ns0:cat>
            <ns0:strRef>
              <ns0:f>'Chart Data'!$C$2:$C$4</ns0:f>
              <ns0:strCache>
                <ns0:ptCount val="3"/>
                <ns0:pt idx="0">
                  <ns0:v>web</ns0:v>
                </ns0:pt>
                <ns0:pt idx="1">
                  <ns0:v>android</ns0:v>
                </ns0:pt>
                <ns0:pt idx="2">
                  <ns0:v>ios</ns0:v>
                </ns0:pt>
              </ns0:strCache>
            </ns0:strRef>
          </ns0:cat>
          <ns0:val>
            <ns0:numRef>
              <ns0:f>'Chart Data'!$D$2:$D$4</ns0:f>
              <ns0:numCache>
                <ns0:formatCode>0.0</ns0:formatCode>
                <ns0:ptCount val="3"/>
                <ns0:pt idx="0">
                  <ns0:v>15.7</ns0:v>
                </ns0:pt>
                <ns0:pt idx="1">
                  <ns0:v>15.7</ns0:v>
                </ns0:pt>
                <ns0:pt idx="2">
                  <ns0:v>15.7</ns0:v>
                </ns0:pt>
              </ns0:numCache>
            </ns0:numRef>
          </ns0:val>
          <ns0:smooth val="0"/>
        </ns0:ser>
        <ns0:dLbls>
          <ns0:showLegendKey val="0"/>
          <ns0:showVal val="0"/>
          <ns0:showCatName val="0"/>
          <ns0:showSerName val="0"/>
          <ns0:showPercent val="0"/>
          <ns0:showBubbleSize val="0"/>
          <ns0:numFmt formatCode="0.0" sourceLinked="0"/>
          <ns0:dLblPos val="t"/>
        </ns0:dLbls>
        <ns0:smooth val="0"/>
        <ns0:axId val="1785928255"/>
        <ns0:axId val="1769229823"/>
      </ns0:lineChart>
      <ns0:catAx>
        <ns0:axId val="1785928255"/>
        <ns0:scaling>
          <ns0:orientation val="minMax"/>
        </ns0:scaling>
        <ns0:delete val="0"/>
        <ns0:axPos val="b"/>
        <ns0:numFmt formatCode="General" sourceLinked="1"/>
        <ns0:majorTickMark val="none"/>
        <ns0:minorTickMark val="none"/>
        <ns0:tickLblPos val="nextTo"/>
        <ns0:spPr>
          <ns3:ln w="9525" cmpd="sng">
            <ns3:solidFill>
              <ns3:schemeClr val="tx1"/>
            </ns3:solidFill>
          </ns3:ln>
        </ns0:spPr>
        <ns0:txPr>
          <ns3:bodyPr rot="-60000000" spcFirstLastPara="1" vert="horz" wrap="square" anchor="ctr" anchorCtr="1"/>
          <ns3:lstStyle/>
          <ns3:p>
            <ns3:pPr>
              <ns3:defRPr sz="1100" b="0" i="0" u="none" kern="1200" baseline="0">
                <ns3:solidFill>
                  <ns3:schemeClr val="tx1"/>
                </ns3:solidFill>
                <ns3:latin typeface="+mn-lt"/>
                <ns3:ea typeface="+mn-lt"/>
                <ns3:cs typeface="+mn-lt"/>
              </ns3:defRPr>
            </ns3:pPr>
          </ns3:p>
        </ns0:txPr>
        <ns0:crossAx val="1769229823"/>
        <ns0:crosses val="autoZero"/>
        <ns0:lblAlgn val="ctr"/>
        <ns0:noMultiLvlLbl val="0"/>
        <ns0:lblOffset val="100"/>
      </ns0:catAx>
      <ns0:valAx>
        <ns0:axId val="1769229823"/>
        <ns0:scaling>
          <ns0:orientation val="minMax"/>
          <ns0:min val="0"/>
          <ns0:max val="100"/>
        </ns0:scaling>
        <ns0:delete val="0"/>
        <ns0:axPos val="l"/>
        <ns0:majorGridlines>
          <ns0:spPr>
            <ns3:ln w="9525" cmpd="sng">
              <ns3:noFill/>
            </ns3:ln>
          </ns0:spPr>
        </ns0:majorGridlines>
        <ns0:numFmt formatCode="General" sourceLinked="1"/>
        <ns0:majorTickMark val="none"/>
        <ns0:minorTickMark val="none"/>
        <ns0:tickLblPos val="nextTo"/>
        <ns0:spPr>
          <ns3:ln>
            <ns3:noFill/>
          </ns3:ln>
        </ns0:spPr>
        <ns0:txPr>
          <ns3:bodyPr rot="-60000000" vert="horz" anchor="ctr" anchorCtr="1"/>
          <ns3:lstStyle/>
          <ns3:p>
            <ns3:pPr>
              <ns3:defRPr sz="1100" b="0" i="0" u="none" kern="1200" baseline="0">
                <ns3:solidFill>
                  <ns3:schemeClr val="tx1"/>
                </ns3:solidFill>
                <ns3:latin typeface="Helvetica Neue Medium"/>
                <ns3:ea typeface="Helvetica Neue Medium"/>
                <ns3:cs typeface="Helvetica Neue Medium"/>
              </ns3:defRPr>
            </ns3:pPr>
          </ns3:p>
        </ns0:txPr>
        <ns0:crossAx val="1785928255"/>
        <ns0:crosses val="autoZero"/>
        <ns0:crossBetween val="between"/>
      </ns0:valAx>
      <ns0:spPr>
        <ns3:noFill/>
        <ns3:ln>
          <ns3:noFill/>
        </ns3:ln>
      </ns0:spPr>
    </ns0:plotArea>
    <ns0:legend>
      <ns0:legendPos val="b"/>
      <ns0:overlay val="0"/>
      <ns0:spPr>
        <ns3:noFill/>
      </ns0:spPr>
      <ns0:txPr>
        <ns3:bodyPr rot="0" vert="horz" anchor="ctr" anchorCtr="1"/>
        <ns3:lstStyle/>
        <ns3:p>
          <ns3:pPr>
            <ns3:defRPr sz="1197" b="0" i="0" u="none">
              <ns3:solidFill>
                <ns3:schemeClr val="tx1">
                  <ns3:lumMod val="65000"/>
                  <ns3:lumOff val="35000"/>
                </ns3:schemeClr>
              </ns3:solidFill>
              <ns3:latin typeface="Roboto"/>
              <ns3:ea typeface="Roboto"/>
              <ns3:cs typeface="Roboto"/>
            </ns3:defRPr>
          </ns3:pPr>
        </ns3:p>
      </ns0:txPr>
    </ns0:legend>
    <ns0:plotVisOnly val="1"/>
  </ns0:chart>
  <ns0:spPr>
    <ns3:noFill/>
    <ns3:ln>
      <ns3:noFill/>
    </ns3:ln>
  </ns0:spPr>
  <ns0:externalData r:id="rIdChartSnapshot1">
    <ns0:autoUpdate val="0"/>
  </ns0:externalData>
</ns0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Визиты, регистрации</a:t>
            </a:r>
          </a:p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и реклама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Анализ образовательной платформы. Динамика метрик, рекламные кампании и проверка гипотез о снижении регистраций.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1 марта — 31 августа 2023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Дашборд конверсий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686C2043-BC49-4182-83AF-C71EB877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9448800" cy="98580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Результаты и решения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Содержание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700" y="2573020"/>
          <a:ext xmlns:a="http://schemas.openxmlformats.org/drawingml/2006/main" cx="11404600" cy="35661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/>
                <a:gridCol w="6875813"/>
                <a:gridCol w="3901209"/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Данные и метод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Метрики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Реклама и запуски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Сравнения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Просадки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Динамика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Способы регистрации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Диагностика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Ограничения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Интерпретация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Рекомендации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План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5DB516D-88AD-4C3B-BE7E-E9722C835F1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000000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138 703 посетителя после фильтрации ботов и выбора последнего визита.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000000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21 836 регистраций за 184 дня.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650">
                <a:solidFill>
                  <a:srgbClr val="000000"/>
                </a:solidFill>
                <a:latin typeface="Roboto"/>
                <a:ea typeface="Roboto"/>
                <a:cs typeface="Roboto"/>
              </a:defRPr>
            </a:pPr>
            <a:r>
              <a:rPr sz="165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Расходы на рекламу: 33 119 единиц источника.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74D5802-A199-442E-9117-3872F9CC141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Результат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В мае средние дневные регистрации снизились на 28,0% к апрелю, а рекламные расходы за день выросли на 19,9%.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Главное наблюдение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Рост бюджета не гарантирует рост регистраций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Основные выводы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8BE4E939-E7B6-44E0-8673-0A2969C6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Проверить майскую кампанию и мобильную воронку. Оценивать рекламу через контролируемое сравнение и связь UTM с регистрацией.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Приоритет анализа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Проверка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Граница вывода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Данные показывают совместную динамику. Причину изменений и окупаемость рекламы они не устанавливают.</a:t>
            </a:r>
          </a:p>
        </p:txBody>
      </p:sp>
    </p:spTree>
    <p:extLst>
      <p:ext uri="{BB962C8B-B14F-4D97-AF65-F5344CB8AC3E}">
        <p14:creationId xmlns:p14="http://schemas.microsoft.com/office/powerpoint/2010/main" val="12505476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Как рассчитаны показатели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Исключены 7 382 строки с bot в User-Agent. Учитываем web, android и ios.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Источник рекламы: корневой ads.csv. API запрошен с begin=2023-03-01 и end=2023-09-01. В ответе даты до 31 августа.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Единица анализа: день и платформа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Боты исключены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Каждый visit_id учитывается один раз за весь период, в день последнего визита.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Последний визит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Регистрации / визиты × 100%. Общую конверсию взвешиваем по числу визитов.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Конверсия в процентах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Суммируем платформы и расходы по дням. Без рекламы: cost=0 и campaign=none.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Рекламные расходы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Что происходит при запуске рекламы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Сравнение первых 7 дней новой кампании с предыдущими 7 днями: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9 апреля: визиты −23,3%, регистрации −18,8%.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9 мая: −26,2% и −27,4%.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20 июня: +48,9% и +17,7%.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29 июля: −20,0% и −12,9%.</a:t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  <a:endParaRPr sz="16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Это разные даты и аудитории. Предыдущая неделя могла включать другую рекламу.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Единого роста после запуска нет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763 визита в день с рекламой против 628 без неё: +21,5%.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Визиты выше в рекламные дни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119 регистраций в день с рекламой против 113 без неё: +5,2%.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Разница регистраций меньше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171 рекламный день и только 13 дней без рекламы. Контрольная группа отсутствует.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Сравнение описательное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Регистрации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105,4 в день в мае против 146,4 в апреле. Снижение 28,0%.</a:t>
            </a:r>
            <a:endParaRPr sz="1600"/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Расходы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205,2 в день в мае против 171,1 в апреле. Рост 19,9%.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Майская просадка при большем бюджете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Визиты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617,8 в день в мае против 805,7 в апреле. Снижение 23,3%.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11–17 мая: минимальное среднее число визитов за 7 дней, 505,9 в день.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13–19 мая: минимум регистраций за 7 дней, 89,3 в день.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С 9 мая шла web_dev_workshop_series. Это совпадение по времени, не доказательство неудачного креатива.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Рост расходов не сопровождался ростом объёма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В мае к апрелю снизилось среднее дневное число успешных регистраций всеми способами: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Apple: −28,5%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Email: −25,4%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Google: −30,6%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Yandex: −29,7%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/>
              <a:t>Майская просадка не ограничена одним способом регистрации.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55026"/>
            <a:ext cx="7835900" cy="102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Способы регистрации: что видно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В июле Apple-регистраций 539 против 600 в июне. В пересчёте на день это −13,1%.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При этом среднее число Google-регистраций выросло на 26,4%. Это повод проверить Apple отдельно.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Успешные регистрации не показывают вероятность сбоя. Нужны попытки, ошибки, версии приложений и журнал релизов.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31093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Нет данных о попытках и ошибках входа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1170935"/>
            <a:ext cx="11404600" cy="1797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Причину просадки</a:t>
            </a:r>
            <a:endParaRPr sz="4200">
              <a:solidFill>
                <a:schemeClr val="accent1"/>
              </a:solidFill>
            </a:endParaRPr>
          </a:p>
          <a:p xmlns:a="http://schemas.openxmlformats.org/drawingml/2006/main">
            <a:pPr algn="ctr">
              <a:buNone/>
            </a:pPr>
            <a:r>
              <a:rPr sz="4200">
                <a:solidFill>
                  <a:schemeClr val="accent1"/>
                </a:solidFill>
              </a:rPr>
              <a:t>пока нельзя установить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677" y="3297710"/>
            <a:ext cx="7092645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Нет связи visit_id с user_id, нет UTM у регистрации и данных о креативах. Последний визит может быть позже регистрации. Поэтому показатель проекта не является когортной конверсией или доказательством эффекта рекламы.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Помесячная динамика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mlns:a="http://schemas.openxmlformats.org/drawingml/2006/main" x="4752742" y="1549337"/>
          <a:ext xmlns:a="http://schemas.openxmlformats.org/drawingml/2006/main" cx="6778000" cy="4627827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694500"/>
                <a:gridCol w="1694500"/>
                <a:gridCol w="1694500"/>
                <a:gridCol w="1694500"/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Период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Визиты/д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Рег./д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Затраты/д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Март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771,5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122,1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181,4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Апрель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805,7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146,4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171,1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Май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617,8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105,4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205,2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Июнь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700,4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104,2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153,6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Июль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792,2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114,9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173,5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Август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835,2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119,5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194,1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Все дни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753,8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118,7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180,0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С рекламой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763,4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119,1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193,7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Без рекламы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628,5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113,2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0,0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74196"/>
            <a:ext cx="3606800" cy="32202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Сравниваем средние за день, чтобы учесть разную длину месяцев.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Май: минимум визитов за день.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Июнь: минимум регистраций за день.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Август: максимум визитов за день.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/>
              <a:t>Затраты указаны в единицах источника. Валюта неизвестна.</a:t>
            </a:r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564835"/>
            <a:ext cx="3606800" cy="11783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Март — август 2023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184 дня наблюдения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Просадка в мае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Chart 3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db91c5ec8540e7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749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088295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Средние регистрации: 146,4 → 105,4 в день. Расходы при этом выросли.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631212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Регистрации −28,0%</a:t>
            </a:r>
          </a:p>
        </p:txBody>
      </p:sp>
      <p:sp>
        <p:nvSpPr>
          <p:cNvPr id="1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Проверить аудитории, источники и посадочные страницы майской кампании.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Что проверить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391117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1104512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Средние визиты: 805,7 → 617,8 в день. На графике апрель принят за 100.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647429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Визиты −23,3%</a:t>
            </a:r>
          </a:p>
        </p:txBody>
      </p:sp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4923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Конверсия платформ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Chart 3"/>
          <p:cNvGraphicFramePr/>
          <p:nvPr/>
        </p:nvGraphicFramePr>
        <p:xfrm>
          <a:off xmlns:a="http://schemas.openxmlformats.org/drawingml/2006/main" x="408690" y="1023105"/>
          <a:ext xmlns:a="http://schemas.openxmlformats.org/drawingml/2006/main" cx="5124182" cy="5225194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b98906300b4bdd"/>
          </a:graphicData>
        </a:graphic>
      </p:graphicFrame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348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5,8%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966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Web за весь период</a:t>
            </a:r>
            <a:endParaRPr sz="1600"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3602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6553" y="235682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620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75,7%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3171" y="3529296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Android за весь период</a:t>
            </a:r>
            <a:endParaRPr sz="1600"/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497133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iOS: 75,4%. Разрыв требует проверки состава трафика и определения идентификаторов. Сравнение не доказывает худшее качество web.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Ошибки регистрации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Логи Apple и мобильных приложений, попытки, успешные завершения.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12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План проверки гипотез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Качество рекламы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</a:rPr>
              <a:t>UTM, аудитории и посадочные страницы майской кампании.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Проверка эффекта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</a:rPr>
              <a:t>Контрольная группа или A/B-тест с заранее выбранной метрикой.</a:t>
            </a:r>
          </a:p>
        </p:txBody>
      </p:sp>
      <p:cxnSp>
        <p:nvCxnSpPr>
          <p:cNvPr id="24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Неделя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Неделя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Недели 3–4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Предлагаемый порядок работ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mlns:a="http://schemas.openxmlformats.org/drawingml/2006/main" x="393699" y="1379875"/>
          <a:ext xmlns:a="http://schemas.openxmlformats.org/drawingml/2006/main" cx="11404600" cy="46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Неделя 1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Неделя 2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Неделя 3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Неделя 4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Неделя 5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18" y="4107740"/>
            <a:ext cx="4562665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Аудит майской кампании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Результат: наблюдаемая воронка и план эксперимента</a:t>
            </a:r>
            <a:endParaRPr sz="15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Запуск контрольного сравнения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3403140"/>
            <a:ext cx="8790833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Связь посещений и регистраций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68" y="2698515"/>
            <a:ext cx="6408538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Добавление ошибок и попыток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11479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Проверка логов Apple</a:t>
            </a:r>
            <a:endParaRPr sz="1500">
              <a:solidFill>
                <a:schemeClr val="bg2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937510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1"/>
                </a:solidFill>
              </a:rPr>
              <a:t>Решения на основе</a:t>
            </a:r>
          </a:p>
          <a:p xmlns:a="http://schemas.openxmlformats.org/drawingml/2006/main">
            <a:r>
              <a:rPr sz="6500">
                <a:solidFill>
                  <a:schemeClr val="accent1"/>
                </a:solidFill>
              </a:rPr>
              <a:t>проверяемых гипотез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41201" y="4532466"/>
            <a:ext cx="6458364" cy="138802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Приоритет: майская реклама и мобильная регистрация.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Бюджет меняем после проверки эффекта.</a:t>
            </a: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>
                <a:solidFill>
                  <a:schemeClr val="accent2">
                    <a:lumMod val="50000"/>
                  </a:schemeClr>
                </a:solidFill>
              </a:rPr>
              <a:t>Подробные расчёты и ограничения: ANALYSIS.md.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8D24FCF-671E-4FC7-976F-EA23BDB7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85835545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2026-09-09T12:31:10.6260000Z</dcterms:created>
  <dcterms:modified xsi:type="dcterms:W3CDTF">2026-09-09T12:31:10.6260000Z</dcterms:modified>
</coreProperties>
</file>